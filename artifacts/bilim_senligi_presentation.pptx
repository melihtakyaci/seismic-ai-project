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Calibri"/>
              </a:defRPr>
            </a:pPr>
            <a:r>
              <a:t>Derin Öğrenme ve Büyük Dil Modelleri Entegrasyonu ile</a:t>
            </a:r>
          </a:p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Mikro-Sismik Örüntü Tespiti</a:t>
            </a:r>
          </a:p>
          <a:p>
            <a:pPr algn="ctr">
              <a:defRPr sz="2000">
                <a:solidFill>
                  <a:srgbClr val="B4C8DC"/>
                </a:solidFill>
                <a:latin typeface="Calibri"/>
              </a:defRPr>
            </a:pPr>
            <a:r>
              <a:t>İnşaat Sektörüne Yönelik Erken Uyarı ve Destek Sistemi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1148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C8D2E1"/>
                </a:solidFill>
                <a:latin typeface="Calibri"/>
              </a:defRPr>
            </a:pPr>
            <a:r>
              <a:t>Bertuğ TAŞ, Kadir Emir YÜCEL, Melih TAKYACİ, Emre ÖZDEMİR</a:t>
            </a:r>
          </a:p>
          <a:p>
            <a:pPr algn="ctr">
              <a:defRPr sz="1400">
                <a:solidFill>
                  <a:srgbClr val="C8D2E1"/>
                </a:solidFill>
                <a:latin typeface="Calibri"/>
              </a:defRPr>
            </a:pPr>
            <a:r>
              <a:t>Danışman: Efendi Nasıboğlu</a:t>
            </a:r>
          </a:p>
          <a:p>
            <a:pPr algn="ctr">
              <a:spcBef>
                <a:spcPts val="600"/>
              </a:spcBef>
              <a:defRPr sz="1300">
                <a:solidFill>
                  <a:srgbClr val="A0AFC3"/>
                </a:solidFill>
                <a:latin typeface="Calibri"/>
              </a:defRPr>
            </a:pPr>
            <a:r>
              <a:t>Dokuz Eylül Üniversitesi, Fen Fakültesi, Bilgisayar Bilimleri Bölümü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76072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CA0B4"/>
                </a:solidFill>
                <a:latin typeface="Calibri"/>
              </a:defRPr>
            </a:pPr>
            <a:r>
              <a:t>III. Ulusal Temel Bilimler Gençlik Sempozyumu ve Bilim Şenliği • 12–13 Mayıs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Problem: Sismik Katalog Boşluğu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Türkiye ulusal sismik kataloglarının tamlık eşiği:</a:t>
            </a:r>
          </a:p>
          <a:p>
            <a:pPr lvl="1">
              <a:spcAft>
                <a:spcPts val="800"/>
              </a:spcAft>
              <a:defRPr sz="1600">
                <a:solidFill>
                  <a:srgbClr val="666666"/>
                </a:solidFill>
                <a:latin typeface="Calibri"/>
              </a:defRPr>
            </a:pPr>
            <a:r>
              <a:t>Mc ≈ 2.7  (Tan, 2021)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Bu eşiğin altındaki mikro-sismik olaylar mevcut rutin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kayıt altyapısına büyük ölçüde yansımamaktadır.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Bilimsel değer:</a:t>
            </a:r>
          </a:p>
          <a:p>
            <a:pPr lvl="1">
              <a:spcAft>
                <a:spcPts val="800"/>
              </a:spcAft>
              <a:defRPr sz="1600">
                <a:solidFill>
                  <a:srgbClr val="666666"/>
                </a:solidFill>
                <a:latin typeface="Calibri"/>
              </a:defRPr>
            </a:pPr>
            <a:r>
              <a:t>Fay geometrisinin yüksek çözünürlüklü haritalanması</a:t>
            </a:r>
          </a:p>
          <a:p>
            <a:pPr lvl="1">
              <a:spcAft>
                <a:spcPts val="800"/>
              </a:spcAft>
              <a:defRPr sz="1600">
                <a:solidFill>
                  <a:srgbClr val="666666"/>
                </a:solidFill>
                <a:latin typeface="Calibri"/>
              </a:defRPr>
            </a:pPr>
            <a:r>
              <a:t>Bölgesel stres dağılımının belirlenmesi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Önemli not: Bu olayların deprem öngörüsüyle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doğrudan bir ilişkisi YOKTUR.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666666"/>
                </a:solidFill>
                <a:latin typeface="Calibri"/>
              </a:defRPr>
            </a:pPr>
            <a:r>
              <a:t>Kaynak: Tan, O. (2021). Natural Hazards and Earth System Sciences, 21(7), 2059–2073.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Önerilen Sistem Mimarisi: İki Katmanlı Yapı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645920"/>
            <a:ext cx="3931920" cy="4114800"/>
          </a:xfrm>
          <a:prstGeom prst="roundRect">
            <a:avLst/>
          </a:prstGeom>
          <a:solidFill>
            <a:srgbClr val="E6F0FA"/>
          </a:solidFill>
          <a:ln w="19050">
            <a:solidFill>
              <a:srgbClr val="0066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defRPr sz="1400" b="1">
                <a:solidFill>
                  <a:srgbClr val="0066B2"/>
                </a:solidFill>
                <a:latin typeface="Calibri"/>
              </a:defRPr>
            </a:pPr>
            <a:r>
              <a:t>KATMAN 1</a:t>
            </a:r>
          </a:p>
          <a:p>
            <a:pPr>
              <a:spcAft>
                <a:spcPts val="1200"/>
              </a:spcAft>
              <a:defRPr sz="1600" b="1">
                <a:solidFill>
                  <a:srgbClr val="003366"/>
                </a:solidFill>
                <a:latin typeface="Calibri"/>
              </a:defRPr>
            </a:pPr>
            <a:r>
              <a:t>Derin Öğrenme Tespit Katmanı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KOERI dalga formu verileri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SeisBench çerçevesi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PhaseNet • EQTransformer • GPD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Türkiye verisine ince-ayar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M&lt;2.0 recall + faz belirleme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0" y="1645920"/>
            <a:ext cx="3931920" cy="4114800"/>
          </a:xfrm>
          <a:prstGeom prst="roundRect">
            <a:avLst/>
          </a:prstGeom>
          <a:solidFill>
            <a:srgbClr val="FAF5E6"/>
          </a:solidFill>
          <a:ln w="19050">
            <a:solidFill>
              <a:srgbClr val="B48C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defRPr sz="1400" b="1">
                <a:solidFill>
                  <a:srgbClr val="B48C32"/>
                </a:solidFill>
                <a:latin typeface="Calibri"/>
              </a:defRPr>
            </a:pPr>
            <a:r>
              <a:t>KATMAN 2</a:t>
            </a:r>
          </a:p>
          <a:p>
            <a:pPr>
              <a:spcAft>
                <a:spcPts val="1200"/>
              </a:spcAft>
              <a:defRPr sz="1600" b="1">
                <a:solidFill>
                  <a:srgbClr val="003366"/>
                </a:solidFill>
                <a:latin typeface="Calibri"/>
              </a:defRPr>
            </a:pPr>
            <a:r>
              <a:t>LLM Karar Destek Katmanı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Olay meta-verileri (konum, M, derinlik)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TBDY-2018 hükümleri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Zemin sınıfı bilgileri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RAG mimarisi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Yönetmelik-duyarlı raporlama</a:t>
            </a:r>
          </a:p>
        </p:txBody>
      </p:sp>
      <p:sp>
        <p:nvSpPr>
          <p:cNvPr id="5" name="Right Arrow 4"/>
          <p:cNvSpPr/>
          <p:nvPr/>
        </p:nvSpPr>
        <p:spPr>
          <a:xfrm>
            <a:off x="4160520" y="3474720"/>
            <a:ext cx="731520" cy="45720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666666"/>
                </a:solidFill>
                <a:latin typeface="Calibri"/>
              </a:defRPr>
            </a:pPr>
            <a:r>
              <a:t>Özgün katkı: Bu iki katmanı tek pipeline içinde birleştiren ilk entegre mimari önerisi (Türkiye bağlamında)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Katman 1: Derin Öğrenme Modelleri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Kullanılacak modeller (SeisBench üzerinden):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  <a:latin typeface="Calibri"/>
              </a:defRPr>
            </a:pPr>
          </a:p>
          <a:p>
            <a:pPr lvl="1">
              <a:spcAft>
                <a:spcPts val="800"/>
              </a:spcAft>
              <a:defRPr sz="1600">
                <a:solidFill>
                  <a:srgbClr val="666666"/>
                </a:solidFill>
                <a:latin typeface="Calibri"/>
              </a:defRPr>
            </a:pPr>
            <a:r>
              <a:t>GPD (Ross vd., 2018)</a:t>
            </a:r>
          </a:p>
          <a:p>
            <a:pPr lvl="2">
              <a:spcAft>
                <a:spcPts val="800"/>
              </a:spcAft>
              <a:defRPr sz="1600">
                <a:solidFill>
                  <a:srgbClr val="666666"/>
                </a:solidFill>
                <a:latin typeface="Calibri"/>
              </a:defRPr>
            </a:pPr>
            <a:r>
              <a:t>Genelleştirilmiş sismik faz tespiti</a:t>
            </a:r>
          </a:p>
          <a:p>
            <a:pPr lvl="1">
              <a:spcAft>
                <a:spcPts val="800"/>
              </a:spcAft>
              <a:defRPr sz="1600">
                <a:solidFill>
                  <a:srgbClr val="666666"/>
                </a:solidFill>
                <a:latin typeface="Calibri"/>
              </a:defRPr>
            </a:pPr>
            <a:r>
              <a:t>PhaseNet (Zhu &amp; Beroza, 2019)</a:t>
            </a:r>
          </a:p>
          <a:p>
            <a:pPr lvl="2">
              <a:spcAft>
                <a:spcPts val="800"/>
              </a:spcAft>
              <a:defRPr sz="1600">
                <a:solidFill>
                  <a:srgbClr val="666666"/>
                </a:solidFill>
                <a:latin typeface="Calibri"/>
              </a:defRPr>
            </a:pPr>
            <a:r>
              <a:t>P ve S fazlarının varış zamanlarının otomatik belirlenmesi</a:t>
            </a:r>
          </a:p>
          <a:p>
            <a:pPr lvl="1">
              <a:spcAft>
                <a:spcPts val="800"/>
              </a:spcAft>
              <a:defRPr sz="1600">
                <a:solidFill>
                  <a:srgbClr val="666666"/>
                </a:solidFill>
                <a:latin typeface="Calibri"/>
              </a:defRPr>
            </a:pPr>
            <a:r>
              <a:t>EQTransformer (Mousavi vd., 2020)</a:t>
            </a:r>
          </a:p>
          <a:p>
            <a:pPr lvl="2">
              <a:spcAft>
                <a:spcPts val="800"/>
              </a:spcAft>
              <a:defRPr sz="1600">
                <a:solidFill>
                  <a:srgbClr val="666666"/>
                </a:solidFill>
                <a:latin typeface="Calibri"/>
              </a:defRPr>
            </a:pPr>
            <a:r>
              <a:t>Eş zamanlı deprem tespiti ve faz belirleme (dikkat mekanizmalı)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Yöntem:</a:t>
            </a:r>
          </a:p>
          <a:p>
            <a:pPr lvl="1">
              <a:spcAft>
                <a:spcPts val="800"/>
              </a:spcAft>
              <a:defRPr sz="1600">
                <a:solidFill>
                  <a:srgbClr val="666666"/>
                </a:solidFill>
                <a:latin typeface="Calibri"/>
              </a:defRPr>
            </a:pPr>
            <a:r>
              <a:t>Her üç model Türkiye verisine özgü ince-ayar ile eğitilecektir</a:t>
            </a:r>
          </a:p>
          <a:p>
            <a:pPr lvl="1">
              <a:spcAft>
                <a:spcPts val="800"/>
              </a:spcAft>
              <a:defRPr sz="1600">
                <a:solidFill>
                  <a:srgbClr val="666666"/>
                </a:solidFill>
                <a:latin typeface="Calibri"/>
              </a:defRPr>
            </a:pPr>
            <a:r>
              <a:t>Performansları aynı değerlendirme çerçevesinde karşılaştırılacaktır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666666"/>
                </a:solidFill>
                <a:latin typeface="Calibri"/>
              </a:defRPr>
            </a:pPr>
            <a:r>
              <a:t>Framework: Woollam vd. (2022). SeisBench—A toolbox for ML in seismology. Seis. Res. Lett., 93(3)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Veri Seti: 2023 Kahramanmaraş Artçı Sarsıntı Dizisi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Veri kaynağı: KOERI sismik ağı (Cambaz vd., 2021)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Neden bu veri seti?</a:t>
            </a:r>
          </a:p>
          <a:p>
            <a:pPr lvl="1">
              <a:spcAft>
                <a:spcPts val="800"/>
              </a:spcAft>
              <a:defRPr sz="1600">
                <a:solidFill>
                  <a:srgbClr val="666666"/>
                </a:solidFill>
                <a:latin typeface="Calibri"/>
              </a:defRPr>
            </a:pPr>
            <a:r>
              <a:t>Veri zenginliği: Yoğun artçı sarsıntı aktivitesi</a:t>
            </a:r>
          </a:p>
          <a:p>
            <a:pPr lvl="1">
              <a:spcAft>
                <a:spcPts val="800"/>
              </a:spcAft>
              <a:defRPr sz="1600">
                <a:solidFill>
                  <a:srgbClr val="666666"/>
                </a:solidFill>
                <a:latin typeface="Calibri"/>
              </a:defRPr>
            </a:pPr>
            <a:r>
              <a:t>Güncellik: 2023 yılı verileri</a:t>
            </a:r>
          </a:p>
          <a:p>
            <a:pPr lvl="1">
              <a:spcAft>
                <a:spcPts val="800"/>
              </a:spcAft>
              <a:defRPr sz="1600">
                <a:solidFill>
                  <a:srgbClr val="666666"/>
                </a:solidFill>
                <a:latin typeface="Calibri"/>
              </a:defRPr>
            </a:pPr>
            <a:r>
              <a:t>Geniş magnıtüd aralığı: M&lt;1.0 — M&gt;5.0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Erişim yöntemi:</a:t>
            </a:r>
          </a:p>
          <a:p>
            <a:pPr lvl="1">
              <a:spcAft>
                <a:spcPts val="800"/>
              </a:spcAft>
              <a:defRPr sz="1600">
                <a:solidFill>
                  <a:srgbClr val="666666"/>
                </a:solidFill>
                <a:latin typeface="Calibri"/>
              </a:defRPr>
            </a:pPr>
            <a:r>
              <a:t>FDSN web servisleri (EIDA/KOERI düğümü)</a:t>
            </a:r>
          </a:p>
          <a:p>
            <a:pPr lvl="1">
              <a:spcAft>
                <a:spcPts val="800"/>
              </a:spcAft>
              <a:defRPr sz="1600">
                <a:solidFill>
                  <a:srgbClr val="666666"/>
                </a:solidFill>
                <a:latin typeface="Calibri"/>
              </a:defRPr>
            </a:pPr>
            <a:r>
              <a:t>Ham dalga formu verileri (miniSEED formatı)</a:t>
            </a:r>
          </a:p>
          <a:p>
            <a:pPr lvl="1">
              <a:spcAft>
                <a:spcPts val="800"/>
              </a:spcAft>
              <a:defRPr sz="1600">
                <a:solidFill>
                  <a:srgbClr val="666666"/>
                </a:solidFill>
                <a:latin typeface="Calibri"/>
              </a:defRPr>
            </a:pPr>
            <a:r>
              <a:t>3 bileşenli (BHZ, BHN, BHE) sismik kayıtlar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666666"/>
                </a:solidFill>
                <a:latin typeface="Calibri"/>
              </a:defRPr>
            </a:pPr>
            <a:r>
              <a:t>Kaynak: Ding vd. (2023). Earthquake Science, 36. doi:10.1016/j.eqs.2023.06.002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Hedeflenen Başarı Ölçütleri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Temel değerlendirme eksenleri:</a:t>
            </a:r>
          </a:p>
          <a:p>
            <a:pPr>
              <a:spcAft>
                <a:spcPts val="800"/>
              </a:spcAft>
              <a:defRPr sz="17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1. Olay Tespiti (Detection)</a:t>
            </a:r>
          </a:p>
          <a:p>
            <a:pPr lvl="1">
              <a:spcAft>
                <a:spcPts val="800"/>
              </a:spcAft>
              <a:defRPr sz="1500">
                <a:solidFill>
                  <a:srgbClr val="666666"/>
                </a:solidFill>
                <a:latin typeface="Calibri"/>
              </a:defRPr>
            </a:pPr>
            <a:r>
              <a:t>M &lt; 2.0 bandında recall performansı</a:t>
            </a:r>
          </a:p>
          <a:p>
            <a:pPr lvl="1">
              <a:spcAft>
                <a:spcPts val="800"/>
              </a:spcAft>
              <a:defRPr sz="1500">
                <a:solidFill>
                  <a:srgbClr val="666666"/>
                </a:solidFill>
                <a:latin typeface="Calibri"/>
              </a:defRPr>
            </a:pPr>
            <a:r>
              <a:t>Düşük yanlış pozitif oranı (gürültü pencereleri üzerinde)</a:t>
            </a:r>
          </a:p>
          <a:p>
            <a:pPr>
              <a:spcAft>
                <a:spcPts val="800"/>
              </a:spcAft>
              <a:defRPr sz="17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2. Faz Belirleme (Phase Picking)</a:t>
            </a:r>
          </a:p>
          <a:p>
            <a:pPr lvl="1">
              <a:spcAft>
                <a:spcPts val="800"/>
              </a:spcAft>
              <a:defRPr sz="1500">
                <a:solidFill>
                  <a:srgbClr val="666666"/>
                </a:solidFill>
                <a:latin typeface="Calibri"/>
              </a:defRPr>
            </a:pPr>
            <a:r>
              <a:t>Ortalama mutlak hata (MAE) hedefi: 0.1 saniye</a:t>
            </a:r>
          </a:p>
          <a:p>
            <a:pPr lvl="1">
              <a:spcAft>
                <a:spcPts val="800"/>
              </a:spcAft>
              <a:defRPr sz="1500">
                <a:solidFill>
                  <a:srgbClr val="666666"/>
                </a:solidFill>
                <a:latin typeface="Calibri"/>
              </a:defRPr>
            </a:pPr>
            <a:r>
              <a:t>P ve S faz varış zamanları ayrı ayrı değerlendirilecektir</a:t>
            </a:r>
          </a:p>
          <a:p>
            <a:pPr>
              <a:spcAft>
                <a:spcPts val="800"/>
              </a:spcAft>
              <a:defRPr sz="17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3. Karşılaştırma</a:t>
            </a:r>
          </a:p>
          <a:p>
            <a:pPr lvl="1">
              <a:spcAft>
                <a:spcPts val="800"/>
              </a:spcAft>
              <a:defRPr sz="1500">
                <a:solidFill>
                  <a:srgbClr val="666666"/>
                </a:solidFill>
                <a:latin typeface="Calibri"/>
              </a:defRPr>
            </a:pPr>
            <a:r>
              <a:t>Üç model aynı metriklerle değerlendirilecektir</a:t>
            </a:r>
          </a:p>
          <a:p>
            <a:pPr lvl="1">
              <a:spcAft>
                <a:spcPts val="800"/>
              </a:spcAft>
              <a:defRPr sz="1500">
                <a:solidFill>
                  <a:srgbClr val="666666"/>
                </a:solidFill>
                <a:latin typeface="Calibri"/>
              </a:defRPr>
            </a:pPr>
            <a:r>
              <a:t>Magnıtüd bandlarına göre stratifiye analiz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5486400"/>
            <a:ext cx="7315200" cy="731520"/>
          </a:xfrm>
          <a:prstGeom prst="roundRect">
            <a:avLst/>
          </a:prstGeom>
          <a:solidFill>
            <a:srgbClr val="FFF8DC"/>
          </a:solidFill>
          <a:ln w="12700">
            <a:solidFill>
              <a:srgbClr val="B48C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i="1">
                <a:solidFill>
                  <a:srgbClr val="78641E"/>
                </a:solidFill>
                <a:latin typeface="Calibri"/>
              </a:defRPr>
            </a:pPr>
            <a:r>
              <a:t>⚠ 0.1s MAE bir hedeftir, tamamlanmış bir sonuç değildir.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Katman 2: LLM ve RAG Entegrasyonu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Giriş verileri:</a:t>
            </a:r>
          </a:p>
          <a:p>
            <a:pPr lvl="1">
              <a:spcAft>
                <a:spcPts val="800"/>
              </a:spcAft>
              <a:defRPr sz="1400">
                <a:solidFill>
                  <a:srgbClr val="666666"/>
                </a:solidFill>
                <a:latin typeface="Calibri"/>
              </a:defRPr>
            </a:pPr>
            <a:r>
              <a:t>Tespit edilen olayların meta-verileri (konum, büyüklük, derinlik)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Bilgi tabanı (indekslenmiş belgeler):</a:t>
            </a:r>
          </a:p>
          <a:p>
            <a:pPr lvl="1">
              <a:spcAft>
                <a:spcPts val="800"/>
              </a:spcAft>
              <a:defRPr sz="1400">
                <a:solidFill>
                  <a:srgbClr val="666666"/>
                </a:solidFill>
                <a:latin typeface="Calibri"/>
              </a:defRPr>
            </a:pPr>
            <a:r>
              <a:t>TBDY-2018 yönetmelik hükümleri</a:t>
            </a:r>
          </a:p>
          <a:p>
            <a:pPr lvl="1">
              <a:spcAft>
                <a:spcPts val="800"/>
              </a:spcAft>
              <a:defRPr sz="1400">
                <a:solidFill>
                  <a:srgbClr val="666666"/>
                </a:solidFill>
                <a:latin typeface="Calibri"/>
              </a:defRPr>
            </a:pPr>
            <a:r>
              <a:t>Zemin sınıfı bilgileri (Vs30 haritaları)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Mimari: Retrieval-Augmented Generation (RAG)</a:t>
            </a:r>
          </a:p>
          <a:p>
            <a:pPr lvl="1">
              <a:spcAft>
                <a:spcPts val="800"/>
              </a:spcAft>
              <a:defRPr sz="1400">
                <a:solidFill>
                  <a:srgbClr val="666666"/>
                </a:solidFill>
                <a:latin typeface="Calibri"/>
              </a:defRPr>
            </a:pPr>
            <a:r>
              <a:t>Dil modeli yalnızca indekslenmiş belgelerden yanıt üretir</a:t>
            </a:r>
          </a:p>
          <a:p>
            <a:pPr lvl="1">
              <a:spcAft>
                <a:spcPts val="800"/>
              </a:spcAft>
              <a:defRPr sz="1400">
                <a:solidFill>
                  <a:srgbClr val="666666"/>
                </a:solidFill>
                <a:latin typeface="Calibri"/>
              </a:defRPr>
            </a:pPr>
            <a:r>
              <a:t>Her yanıtın kaynak belgesi izlenebilir</a:t>
            </a:r>
          </a:p>
          <a:p>
            <a:pPr lvl="1">
              <a:spcAft>
                <a:spcPts val="800"/>
              </a:spcAft>
              <a:defRPr sz="1400">
                <a:solidFill>
                  <a:srgbClr val="666666"/>
                </a:solidFill>
                <a:latin typeface="Calibri"/>
              </a:defRPr>
            </a:pPr>
            <a:r>
              <a:t>Halüsinas yon riski minimize edilir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Amaç:</a:t>
            </a:r>
          </a:p>
          <a:p>
            <a:pPr lvl="1">
              <a:spcAft>
                <a:spcPts val="800"/>
              </a:spcAft>
              <a:defRPr sz="1400">
                <a:solidFill>
                  <a:srgbClr val="666666"/>
                </a:solidFill>
                <a:latin typeface="Calibri"/>
              </a:defRPr>
            </a:pPr>
            <a:r>
              <a:t>'Bu bölgede şu mikro-sismik aktivite tespit edilmiştir;</a:t>
            </a:r>
          </a:p>
          <a:p>
            <a:pPr lvl="1">
              <a:spcAft>
                <a:spcPts val="800"/>
              </a:spcAft>
              <a:defRPr sz="1400">
                <a:solidFill>
                  <a:srgbClr val="666666"/>
                </a:solidFill>
                <a:latin typeface="Calibri"/>
              </a:defRPr>
            </a:pPr>
            <a:r>
              <a:t> TBDY-2018 kapsamında şu değerlendirmeler geçerlidir.'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666666"/>
                </a:solidFill>
                <a:latin typeface="Calibri"/>
              </a:defRPr>
            </a:pPr>
            <a:r>
              <a:t>RAG: Wang vd. (2025). J. Building Engineering, 103, 112189.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Özgün Katkı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Projenin temel özgün katkısı:</a:t>
            </a:r>
          </a:p>
          <a:p>
            <a:pPr>
              <a:spcAft>
                <a:spcPts val="800"/>
              </a:spcAft>
              <a:defRPr sz="17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Derin öğrenme tabanlı mikro-sismik tespit mekanizması ile</a:t>
            </a:r>
          </a:p>
          <a:p>
            <a:pPr>
              <a:spcAft>
                <a:spcPts val="8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LLM tabanlı yönetmelik-duyarlı karar destek modülünü</a:t>
            </a:r>
          </a:p>
          <a:p>
            <a:pPr>
              <a:spcAft>
                <a:spcPts val="8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tek bir pipeline içinde birleştiren ve bunu doğrudan</a:t>
            </a:r>
          </a:p>
          <a:p>
            <a:pPr>
              <a:spcAft>
                <a:spcPts val="8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Türkiye sismik verisi üzerinde uygulayan</a:t>
            </a:r>
          </a:p>
          <a:p>
            <a:pPr>
              <a:spcAft>
                <a:spcPts val="800"/>
              </a:spcAft>
              <a:defRPr sz="17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     ilk entegre mimari önerisi.</a:t>
            </a:r>
          </a:p>
          <a:p>
            <a:pPr>
              <a:spcAft>
                <a:spcPts val="800"/>
              </a:spcAft>
              <a:defRPr sz="17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7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Bu iki bileşeni — otomatik sismik tespit ve yönetmelik-duyarlı</a:t>
            </a:r>
          </a:p>
          <a:p>
            <a:pPr>
              <a:spcAft>
                <a:spcPts val="8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yapay zeka raporlama — tek bir entegre sistemde birleştiren</a:t>
            </a:r>
          </a:p>
          <a:p>
            <a:pPr>
              <a:spcAft>
                <a:spcPts val="8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bir çalışma Türkiye bağlamında daha önce önerilmemiştir.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Gelecek Çalışma ve Sonuç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Gelecek çalışma:</a:t>
            </a:r>
          </a:p>
          <a:p>
            <a:pPr lvl="1">
              <a:spcAft>
                <a:spcPts val="800"/>
              </a:spcAft>
              <a:defRPr sz="1600">
                <a:solidFill>
                  <a:srgbClr val="666666"/>
                </a:solidFill>
                <a:latin typeface="Calibri"/>
              </a:defRPr>
            </a:pPr>
            <a:r>
              <a:t>Yapısal sağlık izleme (SHM) sensör verilerinin sisteme entegrasyonu</a:t>
            </a:r>
          </a:p>
          <a:p>
            <a:pPr lvl="1">
              <a:spcAft>
                <a:spcPts val="800"/>
              </a:spcAft>
              <a:defRPr sz="1600">
                <a:solidFill>
                  <a:srgbClr val="666666"/>
                </a:solidFill>
                <a:latin typeface="Calibri"/>
              </a:defRPr>
            </a:pPr>
            <a:r>
              <a:t>Bina montajlı ivmeölçerlerden hasar göstergeleri</a:t>
            </a:r>
          </a:p>
          <a:p>
            <a:pPr lvl="1">
              <a:spcAft>
                <a:spcPts val="800"/>
              </a:spcAft>
              <a:defRPr sz="1600">
                <a:solidFill>
                  <a:srgbClr val="666666"/>
                </a:solidFill>
                <a:latin typeface="Calibri"/>
              </a:defRPr>
            </a:pPr>
            <a:r>
              <a:t>TBDY-2018 Bölüm 15 (mevcut bina değerlendirmesi) ile eşleştirme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Sonuç:</a:t>
            </a:r>
          </a:p>
          <a:p>
            <a:pPr lvl="1">
              <a:spcAft>
                <a:spcPts val="800"/>
              </a:spcAft>
              <a:defRPr sz="1600">
                <a:solidFill>
                  <a:srgbClr val="666666"/>
                </a:solidFill>
                <a:latin typeface="Calibri"/>
              </a:defRPr>
            </a:pPr>
            <a:r>
              <a:t>Türkiye'nin sismik kataloğundaki M&lt;2.7 altı boşluğu</a:t>
            </a:r>
          </a:p>
          <a:p>
            <a:pPr lvl="1">
              <a:spcAft>
                <a:spcPts val="800"/>
              </a:spcAft>
              <a:defRPr sz="1600">
                <a:solidFill>
                  <a:srgbClr val="666666"/>
                </a:solidFill>
                <a:latin typeface="Calibri"/>
              </a:defRPr>
            </a:pPr>
            <a:r>
              <a:t>derin öğrenme ile doldurmayı ve bu bilgiyi</a:t>
            </a:r>
          </a:p>
          <a:p>
            <a:pPr lvl="1">
              <a:spcAft>
                <a:spcPts val="800"/>
              </a:spcAft>
              <a:defRPr sz="1600">
                <a:solidFill>
                  <a:srgbClr val="666666"/>
                </a:solidFill>
                <a:latin typeface="Calibri"/>
              </a:defRPr>
            </a:pPr>
            <a:r>
              <a:t>yönetmelik-duyarlı bir yapay zeka aracıyla</a:t>
            </a:r>
          </a:p>
          <a:p>
            <a:pPr lvl="1">
              <a:spcAft>
                <a:spcPts val="800"/>
              </a:spcAft>
              <a:defRPr sz="1600">
                <a:solidFill>
                  <a:srgbClr val="666666"/>
                </a:solidFill>
                <a:latin typeface="Calibri"/>
              </a:defRPr>
            </a:pPr>
            <a:r>
              <a:t>inşaat sektörüne sunmayı amaçlayan</a:t>
            </a:r>
          </a:p>
          <a:p>
            <a:pPr lvl="1">
              <a:spcAft>
                <a:spcPts val="800"/>
              </a:spcAft>
              <a:defRPr sz="1600">
                <a:solidFill>
                  <a:srgbClr val="666666"/>
                </a:solidFill>
                <a:latin typeface="Calibri"/>
              </a:defRPr>
            </a:pPr>
            <a:r>
              <a:t>entegre bir mimari önermekteyiz.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5669280"/>
            <a:ext cx="7315200" cy="18288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585216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666666"/>
                </a:solidFill>
                <a:latin typeface="Calibri"/>
              </a:defRPr>
            </a:pPr>
            <a:r>
              <a:t>SHM entegrasyonu: bildiri metninde açıkça 'gelecek çalışma' olarak belirtilmiştir.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Kaynaklar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[1] Tan, O. (2021). Nat. Hazards Earth Syst. Sci., 21(7), 2059–2073.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[2] Cambaz, M. D. vd. (2021). Seis. Res. Lett., 92(3), 1571–1580.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[3] Woollam, J. vd. (2022). Seis. Res. Lett., 93(3), 1695–1709.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[4] Zhu, W. &amp; Beroza, G. C. (2019). Geophys. J. Int., 216(1), 261–273.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[5] Mousavi, S. M. vd. (2020). Nature Comm., 11, 3952.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[6] Ross, Z. E. vd. (2018). BSSA, 108(5A), 2894–2901.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[7] Ding, M. vd. (2023). Earthquake Science, 36.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[8] Wang, Z. vd. (2025). J. Building Eng., 103, 112189.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[9] Mousavi, S. M. vd. (2025). Geophys. J. Int., 240(2), 1281–1294.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Teşekkürler</a:t>
            </a:r>
          </a:p>
          <a:p>
            <a:pPr algn="ctr">
              <a:spcBef>
                <a:spcPts val="2000"/>
              </a:spcBef>
              <a:defRPr sz="2000">
                <a:solidFill>
                  <a:srgbClr val="B4C8DC"/>
                </a:solidFill>
                <a:latin typeface="Calibri"/>
              </a:defRPr>
            </a:pPr>
            <a:r>
              <a:t>Sorularınızı memnuniyetle yanıtlarız.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502920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A0AFC3"/>
                </a:solidFill>
                <a:latin typeface="Calibri"/>
              </a:defRPr>
            </a:pPr>
            <a:r>
              <a:t>bertugtaas@gmail.com</a:t>
            </a:r>
          </a:p>
          <a:p>
            <a:pPr algn="ctr">
              <a:defRPr sz="1200">
                <a:solidFill>
                  <a:srgbClr val="8CA0B4"/>
                </a:solidFill>
                <a:latin typeface="Calibri"/>
              </a:defRPr>
            </a:pPr>
            <a:r>
              <a:t>Dokuz Eylül Üniversitesi • Bilgisayar Bilimleri Bölümü •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