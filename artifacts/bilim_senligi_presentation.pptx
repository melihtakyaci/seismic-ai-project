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3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 i="0">
                <a:solidFill>
                  <a:srgbClr val="AABED7"/>
                </a:solidFill>
                <a:latin typeface="Calibri Light"/>
              </a:defRPr>
            </a:pPr>
            <a:r>
              <a:t>Derin Öğrenme ve Yerel LLM Entegrasyonu 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 i="0">
                <a:solidFill>
                  <a:srgbClr val="FFFFFF"/>
                </a:solidFill>
                <a:latin typeface="Calibri Light"/>
              </a:defRPr>
            </a:pPr>
            <a:r>
              <a:t>Mikro-Sismik Karar Destek 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1">
                <a:solidFill>
                  <a:srgbClr val="96AAC8"/>
                </a:solidFill>
                <a:latin typeface="Calibri"/>
              </a:defRPr>
            </a:pPr>
            <a:r>
              <a:t>Veri Kıtlığı Koşullarında Hibrit Tespit Mimarisi ve Hava Boşluklu Yönetmelik Yorumlama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383280"/>
            <a:ext cx="2743200" cy="18288"/>
          </a:xfrm>
          <a:prstGeom prst="rect">
            <a:avLst/>
          </a:prstGeom>
          <a:solidFill>
            <a:srgbClr val="C3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 i="0">
                <a:solidFill>
                  <a:srgbClr val="C8D2E1"/>
                </a:solidFill>
                <a:latin typeface="Calibri"/>
              </a:defRPr>
            </a:pPr>
            <a:r>
              <a:t>Bertuğ TAŞ  •  Kadir Emir YÜCEL  •  Melih TAKYACİ  •  Emre ÖZDEMİR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 i="0">
                <a:solidFill>
                  <a:srgbClr val="AAB9CD"/>
                </a:solidFill>
                <a:latin typeface="Calibri"/>
              </a:defRPr>
            </a:pPr>
            <a:r>
              <a:t>Danışman: Efendi NASIBOĞLU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8296B4"/>
                </a:solidFill>
                <a:latin typeface="Calibri"/>
              </a:defRPr>
            </a:pPr>
            <a:r>
              <a:t>Dokuz Eylül Üniversitesi • Fen Fakültesi • Bilgisayar Bilimleri Bölümü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E82A0"/>
                </a:solidFill>
                <a:latin typeface="Calibri"/>
              </a:defRPr>
            </a:pPr>
            <a:r>
              <a:t>III. Ulusal Temel Bilimler Gençlik Sempozyumu ve Bilim Şenliği • Mayıs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9144000" cy="54864"/>
          </a:xfrm>
          <a:prstGeom prst="rect">
            <a:avLst/>
          </a:prstGeom>
          <a:solidFill>
            <a:srgbClr val="C3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 Light"/>
              </a:defRPr>
            </a:pPr>
            <a:r>
              <a:t>Problem: Sismik Veri Boşluğu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B4C3D7"/>
                </a:solidFill>
                <a:latin typeface="Calibri"/>
              </a:defRPr>
            </a:pPr>
            <a:r>
              <a:t>Türkiye'nin M&lt;2.0 mikro-sismik olayları neden görünmez?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800" b="1" i="0">
                <a:solidFill>
                  <a:srgbClr val="002855"/>
                </a:solidFill>
                <a:latin typeface="Calibri"/>
              </a:defRPr>
            </a:pPr>
            <a:r>
              <a:t>Katalog Tamlık Eşiği</a:t>
            </a:r>
          </a:p>
          <a:p>
            <a:pPr>
              <a:spcAft>
                <a:spcPts val="600"/>
              </a:spcAft>
              <a:defRPr sz="1500">
                <a:solidFill>
                  <a:srgbClr val="23232D"/>
                </a:solidFill>
                <a:latin typeface="Calibri"/>
              </a:defRPr>
            </a:pPr>
            <a:r>
              <a:t>Türkiye ulusal sismik katalogları: Mc ≈ 2.7 (Tan, 2021)</a:t>
            </a:r>
          </a:p>
          <a:p>
            <a:pPr>
              <a:spcAft>
                <a:spcPts val="600"/>
              </a:spcAft>
              <a:defRPr sz="1500">
                <a:solidFill>
                  <a:srgbClr val="23232D"/>
                </a:solidFill>
                <a:latin typeface="Calibri"/>
              </a:defRPr>
            </a:pPr>
            <a:r>
              <a:t>M &lt; 2.0 olaylar rutin kayıt altyapısına yansımıyor</a:t>
            </a:r>
          </a:p>
          <a:p>
            <a:pPr>
              <a:spcAft>
                <a:spcPts val="600"/>
              </a:spcAft>
              <a:defRPr sz="800"/>
            </a:pPr>
          </a:p>
          <a:p>
            <a:pPr>
              <a:spcBef>
                <a:spcPts val="0"/>
              </a:spcBef>
              <a:spcAft>
                <a:spcPts val="600"/>
              </a:spcAft>
              <a:defRPr sz="1800" b="1" i="0">
                <a:solidFill>
                  <a:srgbClr val="B43232"/>
                </a:solidFill>
                <a:latin typeface="Calibri"/>
              </a:defRPr>
            </a:pPr>
            <a:r>
              <a:t>Bizim Gerçekliğimiz: Veri Kıtlığı</a:t>
            </a:r>
          </a:p>
          <a:p>
            <a:pPr>
              <a:spcAft>
                <a:spcPts val="600"/>
              </a:spcAft>
              <a:defRPr sz="1500">
                <a:solidFill>
                  <a:srgbClr val="23232D"/>
                </a:solidFill>
                <a:latin typeface="Calibri"/>
              </a:defRPr>
            </a:pPr>
            <a:r>
              <a:t>Sadece ~80 bağımsız deprem olayı (2 istasyon)</a:t>
            </a:r>
          </a:p>
          <a:p>
            <a:pPr>
              <a:spcAft>
                <a:spcPts val="600"/>
              </a:spcAft>
              <a:defRPr sz="1500">
                <a:solidFill>
                  <a:srgbClr val="23232D"/>
                </a:solidFill>
                <a:latin typeface="Calibri"/>
              </a:defRPr>
            </a:pPr>
            <a:r>
              <a:t>Klasik derin öğrenme (binlerce etiketli örnek gerektirir) burada çöker</a:t>
            </a:r>
          </a:p>
          <a:p>
            <a:pPr>
              <a:spcAft>
                <a:spcPts val="600"/>
              </a:spcAft>
              <a:defRPr sz="800"/>
            </a:pPr>
          </a:p>
          <a:p>
            <a:pPr>
              <a:spcBef>
                <a:spcPts val="0"/>
              </a:spcBef>
              <a:spcAft>
                <a:spcPts val="600"/>
              </a:spcAft>
              <a:defRPr sz="1800" b="1" i="0">
                <a:solidFill>
                  <a:srgbClr val="B43232"/>
                </a:solidFill>
                <a:latin typeface="Calibri"/>
              </a:defRPr>
            </a:pPr>
            <a:r>
              <a:t>Keşfettiğimiz Ek Sorun: İstasyon Kimlik Sızıntısı</a:t>
            </a:r>
          </a:p>
          <a:p>
            <a:pPr>
              <a:spcAft>
                <a:spcPts val="600"/>
              </a:spcAft>
              <a:defRPr sz="1500">
                <a:solidFill>
                  <a:srgbClr val="23232D"/>
                </a:solidFill>
                <a:latin typeface="Calibri"/>
              </a:defRPr>
            </a:pPr>
            <a:r>
              <a:t>GPD modeli hangi istasyonun kaydettiğini %84.8 doğrulukla tahmin ediyor</a:t>
            </a:r>
          </a:p>
          <a:p>
            <a:pPr>
              <a:spcAft>
                <a:spcPts val="600"/>
              </a:spcAft>
              <a:defRPr sz="1500">
                <a:solidFill>
                  <a:srgbClr val="23232D"/>
                </a:solidFill>
                <a:latin typeface="Calibri"/>
              </a:defRPr>
            </a:pPr>
            <a:r>
              <a:t>Aynı deprem, iki farklı istasyonda %30.7 farklı sınıflandırma alıyor</a:t>
            </a:r>
          </a:p>
          <a:p>
            <a:pPr>
              <a:spcAft>
                <a:spcPts val="600"/>
              </a:spcAft>
              <a:defRPr sz="1500">
                <a:solidFill>
                  <a:srgbClr val="23232D"/>
                </a:solidFill>
                <a:latin typeface="Calibri"/>
              </a:defRPr>
            </a:pPr>
            <a:r>
              <a:t>Bu, SeisBench makalelerinde belgelenmemiş bir gerçek-dünya sorunu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1">
                <a:solidFill>
                  <a:srgbClr val="5A5F69"/>
                </a:solidFill>
                <a:latin typeface="Calibri"/>
              </a:defRPr>
            </a:pPr>
            <a:r>
              <a:t>Bilimsel değer: Fay geometrisi haritalama. NOT: Deprem öngörüsüyle doğrudan ilişki YOKTUR.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9144000" cy="54864"/>
          </a:xfrm>
          <a:prstGeom prst="rect">
            <a:avLst/>
          </a:prstGeom>
          <a:solidFill>
            <a:srgbClr val="C3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 Light"/>
              </a:defRPr>
            </a:pPr>
            <a:r>
              <a:t>Mühendislik Dönüşümü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B4C3D7"/>
                </a:solidFill>
                <a:latin typeface="Calibri"/>
              </a:defRPr>
            </a:pPr>
            <a:r>
              <a:t>Naif plan çöktü → Daha güçlü bir mimari doğdu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4023360" cy="475488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B43232"/>
                </a:solidFill>
                <a:latin typeface="Calibri"/>
              </a:defRPr>
            </a:pPr>
            <a:r>
              <a:t>BAŞARISIZ OLAN PLAN</a:t>
            </a:r>
          </a:p>
          <a:p>
            <a:pPr>
              <a:defRPr sz="600" b="0">
                <a:solidFill>
                  <a:srgbClr val="23232D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23232D"/>
                </a:solidFill>
                <a:latin typeface="Calibri"/>
              </a:defRPr>
            </a:pPr>
            <a:r>
              <a:t>"3 modeli ince-ayar yap, karşılaştır"</a:t>
            </a:r>
          </a:p>
          <a:p>
            <a:pPr>
              <a:defRPr sz="600" b="0">
                <a:solidFill>
                  <a:srgbClr val="23232D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23232D"/>
                </a:solidFill>
                <a:latin typeface="Calibri"/>
              </a:defRPr>
            </a:pPr>
            <a:r>
              <a:t>Neden çöktü:</a:t>
            </a:r>
          </a:p>
          <a:p>
            <a:pPr>
              <a:defRPr sz="1300" b="0">
                <a:solidFill>
                  <a:srgbClr val="5A5F69"/>
                </a:solidFill>
                <a:latin typeface="Calibri"/>
              </a:defRPr>
            </a:pPr>
            <a:r>
              <a:t>• 80 olay ile ince-ayar imkansız</a:t>
            </a:r>
          </a:p>
          <a:p>
            <a:pPr>
              <a:defRPr sz="1300" b="0">
                <a:solidFill>
                  <a:srgbClr val="5A5F69"/>
                </a:solidFill>
                <a:latin typeface="Calibri"/>
              </a:defRPr>
            </a:pPr>
            <a:r>
              <a:t>• EQTransformer binlerce etiket gerektirir</a:t>
            </a:r>
          </a:p>
          <a:p>
            <a:pPr>
              <a:defRPr sz="1300" b="0">
                <a:solidFill>
                  <a:srgbClr val="5A5F69"/>
                </a:solidFill>
                <a:latin typeface="Calibri"/>
              </a:defRPr>
            </a:pPr>
            <a:r>
              <a:t>• İstasyon bias tüm modelleri bozuyor</a:t>
            </a:r>
          </a:p>
          <a:p>
            <a:pPr>
              <a:defRPr sz="1300" b="0">
                <a:solidFill>
                  <a:srgbClr val="5A5F69"/>
                </a:solidFill>
                <a:latin typeface="Calibri"/>
              </a:defRPr>
            </a:pPr>
            <a:r>
              <a:t>• GPD faz belirleyici değil, pencere</a:t>
            </a:r>
          </a:p>
          <a:p>
            <a:pPr>
              <a:defRPr sz="1300" b="0">
                <a:solidFill>
                  <a:srgbClr val="5A5F69"/>
                </a:solidFill>
                <a:latin typeface="Calibri"/>
              </a:defRPr>
            </a:pPr>
            <a:r>
              <a:t>  sınıflandırıcısı (mimari kısıt)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4023360" cy="4754880"/>
          </a:xfrm>
          <a:prstGeom prst="roundRect">
            <a:avLst/>
          </a:prstGeom>
          <a:solidFill>
            <a:srgbClr val="EBFAF0"/>
          </a:solidFill>
          <a:ln w="19050">
            <a:solidFill>
              <a:srgbClr val="28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288C50"/>
                </a:solidFill>
                <a:latin typeface="Calibri"/>
              </a:defRPr>
            </a:pPr>
            <a:r>
              <a:t>MÜHENDİSLİK ÇÖZÜMÜ</a:t>
            </a:r>
          </a:p>
          <a:p>
            <a:pPr>
              <a:defRPr sz="600" b="0">
                <a:solidFill>
                  <a:srgbClr val="23232D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23232D"/>
                </a:solidFill>
                <a:latin typeface="Calibri"/>
              </a:defRPr>
            </a:pPr>
            <a:r>
              <a:t>Hibrit Mimari (GPD + SVM)</a:t>
            </a:r>
          </a:p>
          <a:p>
            <a:pPr>
              <a:defRPr sz="600" b="0">
                <a:solidFill>
                  <a:srgbClr val="23232D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23232D"/>
                </a:solidFill>
                <a:latin typeface="Calibri"/>
              </a:defRPr>
            </a:pPr>
            <a:r>
              <a:t>Neden işe yaradı:</a:t>
            </a:r>
          </a:p>
          <a:p>
            <a:pPr>
              <a:defRPr sz="1300" b="0">
                <a:solidFill>
                  <a:srgbClr val="5A5F69"/>
                </a:solidFill>
                <a:latin typeface="Calibri"/>
              </a:defRPr>
            </a:pPr>
            <a:r>
              <a:t>• GPD'nin öğrenilmiş özelliklerini çıkar</a:t>
            </a:r>
          </a:p>
          <a:p>
            <a:pPr>
              <a:defRPr sz="1300" b="0">
                <a:solidFill>
                  <a:srgbClr val="5A5F69"/>
                </a:solidFill>
                <a:latin typeface="Calibri"/>
              </a:defRPr>
            </a:pPr>
            <a:r>
              <a:t>• İstasyon bazlı Z-skoru normalizasyonu</a:t>
            </a:r>
          </a:p>
          <a:p>
            <a:pPr>
              <a:defRPr sz="1300" b="0">
                <a:solidFill>
                  <a:srgbClr val="5A5F69"/>
                </a:solidFill>
                <a:latin typeface="Calibri"/>
              </a:defRPr>
            </a:pPr>
            <a:r>
              <a:t>  ile bias'ı istatistiksel olarak sıyır</a:t>
            </a:r>
          </a:p>
          <a:p>
            <a:pPr>
              <a:defRPr sz="1300" b="0">
                <a:solidFill>
                  <a:srgbClr val="5A5F69"/>
                </a:solidFill>
                <a:latin typeface="Calibri"/>
              </a:defRPr>
            </a:pPr>
            <a:r>
              <a:t>• Az veriyle çalışan SVM sınıflandırıcı</a:t>
            </a:r>
          </a:p>
          <a:p>
            <a:pPr>
              <a:defRPr sz="1300" b="0">
                <a:solidFill>
                  <a:srgbClr val="5A5F69"/>
                </a:solidFill>
                <a:latin typeface="Calibri"/>
              </a:defRPr>
            </a:pPr>
            <a:r>
              <a:t>• Kaskad PhaseNet ile faz belirleme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3566160"/>
            <a:ext cx="731520" cy="457200"/>
          </a:xfrm>
          <a:prstGeom prst="rightArrow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1">
                <a:solidFill>
                  <a:srgbClr val="5A5F69"/>
                </a:solidFill>
                <a:latin typeface="Calibri"/>
              </a:defRPr>
            </a:pPr>
            <a:r>
              <a:t>"Başarısızlıklar makaledir" — problemler çözülmüş olarak belgelenmiştir.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9144000" cy="54864"/>
          </a:xfrm>
          <a:prstGeom prst="rect">
            <a:avLst/>
          </a:prstGeom>
          <a:solidFill>
            <a:srgbClr val="C3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 Light"/>
              </a:defRPr>
            </a:pPr>
            <a:r>
              <a:t>Katman 1: Hibrit Tespit Mimarisi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B4C3D7"/>
                </a:solidFill>
                <a:latin typeface="Calibri"/>
              </a:defRPr>
            </a:pPr>
            <a:r>
              <a:t>GPD özellikleri → Z-skoru normalizasyonu → PCA → SVM (RBF)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002855"/>
                </a:solidFill>
                <a:latin typeface="Calibri"/>
              </a:defRPr>
            </a:pPr>
            <a:r>
              <a:t>Pipeline Akışı: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Ham Dalga Formu (3-bileşen, 100 Hz, 60s pencere)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  → GPD Dondurulmuş Katmanlar → 200-boyutlu latent temsil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  → İstasyon Bazlı Z-Skoru Normalizasyonu (bias eliminasyonu)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  → PCA (75 bileşen, %95.6 varyans açıklanır)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  → SVM (RBF çekirdeği, C=20)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  → Olay / Gürültü kararı</a:t>
            </a:r>
          </a:p>
          <a:p>
            <a:pPr>
              <a:spcAft>
                <a:spcPts val="600"/>
              </a:spcAft>
              <a:defRPr sz="800"/>
            </a:pPr>
          </a:p>
          <a:p>
            <a:pPr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002855"/>
                </a:solidFill>
                <a:latin typeface="Calibri"/>
              </a:defRPr>
            </a:pPr>
            <a:r>
              <a:t>Neden bu mimari?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• GPD'nin konvolüsyon katmanları zaten sismik paternleri öğrenmiş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• Ama üst katmanlar istasyon kimliğini de kodluyor (%84.8)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• Z-skoru bu bias'ı istatistiksel olarak temizliyor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• SVM sadece 80 örnekle bile etkili (kernel trick)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2377440" cy="128016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C3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2800" b="1">
                <a:solidFill>
                  <a:srgbClr val="C39B2D"/>
                </a:solidFill>
                <a:latin typeface="Calibri Light"/>
              </a:defRPr>
            </a:pPr>
            <a:r>
              <a:t>98.3%</a:t>
            </a:r>
          </a:p>
          <a:p>
            <a:pPr algn="ctr">
              <a:defRPr sz="1100">
                <a:solidFill>
                  <a:srgbClr val="C8CDD7"/>
                </a:solidFill>
                <a:latin typeface="Calibri"/>
              </a:defRPr>
            </a:pPr>
            <a:r>
              <a:t>Gürültü Reddi (TNR)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2377440" cy="128016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C3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2800" b="1">
                <a:solidFill>
                  <a:srgbClr val="C39B2D"/>
                </a:solidFill>
                <a:latin typeface="Calibri Light"/>
              </a:defRPr>
            </a:pPr>
            <a:r>
              <a:t>58.6%</a:t>
            </a:r>
          </a:p>
          <a:p>
            <a:pPr algn="ctr">
              <a:defRPr sz="1100">
                <a:solidFill>
                  <a:srgbClr val="C8CDD7"/>
                </a:solidFill>
                <a:latin typeface="Calibri"/>
              </a:defRPr>
            </a:pPr>
            <a:r>
              <a:t>M&lt;2.0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754880"/>
            <a:ext cx="2377440" cy="128016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C3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2800" b="1">
                <a:solidFill>
                  <a:srgbClr val="C39B2D"/>
                </a:solidFill>
                <a:latin typeface="Calibri Light"/>
              </a:defRPr>
            </a:pPr>
            <a:r>
              <a:t>~80</a:t>
            </a:r>
          </a:p>
          <a:p>
            <a:pPr algn="ctr">
              <a:defRPr sz="1100">
                <a:solidFill>
                  <a:srgbClr val="C8CDD7"/>
                </a:solidFill>
                <a:latin typeface="Calibri"/>
              </a:defRPr>
            </a:pPr>
            <a:r>
              <a:t>Eğitim Olayı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1">
                <a:solidFill>
                  <a:srgbClr val="5A5F69"/>
                </a:solidFill>
                <a:latin typeface="Calibri"/>
              </a:defRPr>
            </a:pPr>
            <a:r>
              <a:t>Metrikler: artifacts/evaluation_metrics.json — bağımsız doğrulama seti üzerinde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9144000" cy="54864"/>
          </a:xfrm>
          <a:prstGeom prst="rect">
            <a:avLst/>
          </a:prstGeom>
          <a:solidFill>
            <a:srgbClr val="C3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 Light"/>
              </a:defRPr>
            </a:pPr>
            <a:r>
              <a:t>Katman 1: Kaskad Faz Belirleme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B4C3D7"/>
                </a:solidFill>
                <a:latin typeface="Calibri"/>
              </a:defRPr>
            </a:pPr>
            <a:r>
              <a:t>GPD+SVM tetikler → PhaseNet U-Net hassas varış zamanı belirler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B43232"/>
                </a:solidFill>
                <a:latin typeface="Calibri"/>
              </a:defRPr>
            </a:pPr>
            <a:r>
              <a:t>Mimari Kısıt (Keşfedilen Sorun):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GPD bir pencere sınıflandırıcısıdır (4s pencere → "deprem var/yok")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P-dalgasının hangi örnekte başladığını söyleyemez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GPD argmax ile faz belirleme: 16.03s MAE (anlamsız)</a:t>
            </a:r>
          </a:p>
          <a:p>
            <a:pPr>
              <a:spcAft>
                <a:spcPts val="600"/>
              </a:spcAft>
              <a:defRPr sz="800"/>
            </a:pPr>
          </a:p>
          <a:p>
            <a:pPr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288C50"/>
                </a:solidFill>
                <a:latin typeface="Calibri"/>
              </a:defRPr>
            </a:pPr>
            <a:r>
              <a:t>Çözüm: İki Aşamalı Kaskad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Aşama 1: GPD+SVM → Olayı tespit et (ucuz, hızlı)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Aşama 2: PhaseNet U-Net → Yalnızca onaylanan olaylarda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         örnek düzeyinde P/S varış zamanı belirle</a:t>
            </a:r>
          </a:p>
          <a:p>
            <a:pPr>
              <a:spcAft>
                <a:spcPts val="600"/>
              </a:spcAft>
              <a:defRPr sz="800"/>
            </a:pPr>
          </a:p>
          <a:p>
            <a:pPr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002855"/>
                </a:solidFill>
                <a:latin typeface="Calibri"/>
              </a:defRPr>
            </a:pPr>
            <a:r>
              <a:t>İyileşme: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GPD tek başına:     16.03s MAE  →  mimari olarak anlamsız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PhaseNet kaskad:     1.52s ortanca AE  →  10× iyileşme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2377440" cy="128016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C3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2800" b="1">
                <a:solidFill>
                  <a:srgbClr val="C39B2D"/>
                </a:solidFill>
                <a:latin typeface="Calibri Light"/>
              </a:defRPr>
            </a:pPr>
            <a:r>
              <a:t>1.52s</a:t>
            </a:r>
          </a:p>
          <a:p>
            <a:pPr algn="ctr">
              <a:defRPr sz="1100">
                <a:solidFill>
                  <a:srgbClr val="C8CDD7"/>
                </a:solidFill>
                <a:latin typeface="Calibri"/>
              </a:defRPr>
            </a:pPr>
            <a:r>
              <a:t>Ortanca P-Pick AE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383280"/>
            <a:ext cx="2377440" cy="128016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C3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2800" b="1">
                <a:solidFill>
                  <a:srgbClr val="C39B2D"/>
                </a:solidFill>
                <a:latin typeface="Calibri Light"/>
              </a:defRPr>
            </a:pPr>
            <a:r>
              <a:t>10×</a:t>
            </a:r>
          </a:p>
          <a:p>
            <a:pPr algn="ctr">
              <a:defRPr sz="1100">
                <a:solidFill>
                  <a:srgbClr val="C8CDD7"/>
                </a:solidFill>
                <a:latin typeface="Calibri"/>
              </a:defRPr>
            </a:pPr>
            <a:r>
              <a:t>İyileşme Faktörü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937760"/>
            <a:ext cx="2377440" cy="128016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C3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2800" b="1">
                <a:solidFill>
                  <a:srgbClr val="C8CDD7"/>
                </a:solidFill>
                <a:latin typeface="Calibri Light"/>
              </a:defRPr>
            </a:pPr>
            <a:r>
              <a:t>0.1s</a:t>
            </a:r>
          </a:p>
          <a:p>
            <a:pPr algn="ctr">
              <a:defRPr sz="1100">
                <a:solidFill>
                  <a:srgbClr val="C8CDD7"/>
                </a:solidFill>
                <a:latin typeface="Calibri"/>
              </a:defRPr>
            </a:pPr>
            <a:r>
              <a:t>Gelecek Hedef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1">
                <a:solidFill>
                  <a:srgbClr val="5A5F69"/>
                </a:solidFill>
                <a:latin typeface="Calibri"/>
              </a:defRPr>
            </a:pPr>
            <a:r>
              <a:t>0.1s hedefi: PhaseNet'in Türkiye verisiyle ince-ayarı gerektirir (net gelecek çalışma yolu)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9144000" cy="54864"/>
          </a:xfrm>
          <a:prstGeom prst="rect">
            <a:avLst/>
          </a:prstGeom>
          <a:solidFill>
            <a:srgbClr val="C3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 Light"/>
              </a:defRPr>
            </a:pPr>
            <a:r>
              <a:t>Katman 2: Hava Boşluklu Karar Destek 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B4C3D7"/>
                </a:solidFill>
                <a:latin typeface="Calibri"/>
              </a:defRPr>
            </a:pPr>
            <a:r>
              <a:t>Tamamen çevrimdışı — internet bağlantısı SIFIR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002855"/>
                </a:solidFill>
                <a:latin typeface="Calibri"/>
              </a:defRPr>
            </a:pPr>
            <a:r>
              <a:t>Mimari Tasarım Kararı: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Kritik altyapı verisi internete çıkmamalıdır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Deprem sonrası internet altyapısı çökebilir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→ Çözüm: Tamamen yerel, hava boşluklu (air-gapped) LLM</a:t>
            </a:r>
          </a:p>
          <a:p>
            <a:pPr>
              <a:spcAft>
                <a:spcPts val="600"/>
              </a:spcAft>
              <a:defRPr sz="800"/>
            </a:pPr>
          </a:p>
          <a:p>
            <a:pPr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002855"/>
                </a:solidFill>
                <a:latin typeface="Calibri"/>
              </a:defRPr>
            </a:pPr>
            <a:r>
              <a:t>Teknoloji Yığını: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• Model: DeepSeek-R1 (1.5B parametre) — Ollama üzerinde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• İndeksleme: FAISS vektör veritabanı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• Bilgi tabanı: 31 TBDY-2018 maddesi + 15 proje artifaktı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• Arayüz: Streamlit (3 sekmeli UI)</a:t>
            </a:r>
          </a:p>
          <a:p>
            <a:pPr>
              <a:spcAft>
                <a:spcPts val="600"/>
              </a:spcAft>
              <a:defRPr sz="800"/>
            </a:pPr>
          </a:p>
          <a:p>
            <a:pPr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002855"/>
                </a:solidFill>
                <a:latin typeface="Calibri"/>
              </a:defRPr>
            </a:pPr>
            <a:r>
              <a:t>Güvenlik Önlemleri: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• RAG: Model yalnızca indekslenmiş belgelerden yanıt üretir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• Prompt kuralları: 6 zorunlu kural (kaynak atfı, kapsam sınırı)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• Sorumluluk reddi: Her raporda zorunlu uyarı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1">
                <a:solidFill>
                  <a:srgbClr val="5A5F69"/>
                </a:solidFill>
                <a:latin typeface="Calibri"/>
              </a:defRPr>
            </a:pPr>
            <a:r>
              <a:t>Küçük model avantajı: 1.5B parametre → daha az halüsinasyon, prompt'a daha sıkı uyum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9144000" cy="54864"/>
          </a:xfrm>
          <a:prstGeom prst="rect">
            <a:avLst/>
          </a:prstGeom>
          <a:solidFill>
            <a:srgbClr val="C3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 Light"/>
              </a:defRPr>
            </a:pPr>
            <a:r>
              <a:t>Yönetmelik Beyni: TBDY-2018 Temelli Raporlama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B4C3D7"/>
                </a:solidFill>
                <a:latin typeface="Calibri"/>
              </a:defRPr>
            </a:pPr>
            <a:r>
              <a:t>Sıfır halüsinasyon mimarisi — her iddia kaynağa bağlı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029200" cy="36576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32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3278C8"/>
                </a:solidFill>
                <a:latin typeface="Calibri"/>
              </a:defRPr>
            </a:pPr>
            <a:r>
              <a:t>ÖRNEK ÇIKTI:</a:t>
            </a:r>
          </a:p>
          <a:p>
            <a:pPr>
              <a:defRPr sz="400" b="0">
                <a:solidFill>
                  <a:srgbClr val="23232D"/>
                </a:solidFill>
                <a:latin typeface="Calibri"/>
              </a:defRPr>
            </a:pPr>
          </a:p>
          <a:p>
            <a:pPr>
              <a:defRPr sz="1200" b="0">
                <a:solidFill>
                  <a:srgbClr val="23232D"/>
                </a:solidFill>
                <a:latin typeface="Consolas"/>
              </a:defRPr>
            </a:pPr>
            <a:r>
              <a:t>"37.8°N, 27.2°E konumunda M1.8 olay tespit</a:t>
            </a:r>
          </a:p>
          <a:p>
            <a:pPr>
              <a:defRPr sz="1200" b="0">
                <a:solidFill>
                  <a:srgbClr val="23232D"/>
                </a:solidFill>
                <a:latin typeface="Consolas"/>
              </a:defRPr>
            </a:pPr>
            <a:r>
              <a:t>edilmiştir. TBDY-2018 Madde 2.1'e göre bu</a:t>
            </a:r>
          </a:p>
          <a:p>
            <a:pPr>
              <a:defRPr sz="1200" b="0">
                <a:solidFill>
                  <a:srgbClr val="23232D"/>
                </a:solidFill>
                <a:latin typeface="Consolas"/>
              </a:defRPr>
            </a:pPr>
            <a:r>
              <a:t>bölge 1. derece deprem bölgesindedir.</a:t>
            </a:r>
          </a:p>
          <a:p>
            <a:pPr>
              <a:defRPr sz="400" b="0">
                <a:solidFill>
                  <a:srgbClr val="23232D"/>
                </a:solidFill>
                <a:latin typeface="Consolas"/>
              </a:defRPr>
            </a:pPr>
          </a:p>
          <a:p>
            <a:pPr>
              <a:defRPr sz="1200" b="0">
                <a:solidFill>
                  <a:srgbClr val="23232D"/>
                </a:solidFill>
                <a:latin typeface="Consolas"/>
              </a:defRPr>
            </a:pPr>
            <a:r>
              <a:t>Zemin sınıfı: ZC (Vs30 ≈ 280 m/s).</a:t>
            </a:r>
          </a:p>
          <a:p>
            <a:pPr>
              <a:defRPr sz="400" b="0">
                <a:solidFill>
                  <a:srgbClr val="23232D"/>
                </a:solidFill>
                <a:latin typeface="Consolas"/>
              </a:defRPr>
            </a:pPr>
          </a:p>
          <a:p>
            <a:pPr>
              <a:defRPr sz="1100" b="0">
                <a:solidFill>
                  <a:srgbClr val="3278C8"/>
                </a:solidFill>
                <a:latin typeface="Consolas"/>
              </a:defRPr>
            </a:pPr>
            <a:r>
              <a:t>Referans: TBDY-2018 Tablo 2.1, Madde 16.5"</a:t>
            </a:r>
          </a:p>
          <a:p>
            <a:pPr>
              <a:defRPr sz="400" b="0">
                <a:solidFill>
                  <a:srgbClr val="23232D"/>
                </a:solidFill>
                <a:latin typeface="Consolas"/>
              </a:defRPr>
            </a:pPr>
          </a:p>
          <a:p>
            <a:pPr>
              <a:defRPr sz="1000" b="0">
                <a:solidFill>
                  <a:srgbClr val="B43232"/>
                </a:solidFill>
                <a:latin typeface="Consolas"/>
              </a:defRPr>
            </a:pPr>
            <a:r>
              <a:t>⚠ Bu olasılıksal model tahminlerine</a:t>
            </a:r>
          </a:p>
          <a:p>
            <a:pPr>
              <a:defRPr sz="1000" b="0">
                <a:solidFill>
                  <a:srgbClr val="B43232"/>
                </a:solidFill>
                <a:latin typeface="Consolas"/>
              </a:defRPr>
            </a:pPr>
            <a:r>
              <a:t>dayanmaktadır. Nihai karar yetkili</a:t>
            </a:r>
          </a:p>
          <a:p>
            <a:pPr>
              <a:defRPr sz="1000" b="0">
                <a:solidFill>
                  <a:srgbClr val="B43232"/>
                </a:solidFill>
                <a:latin typeface="Consolas"/>
              </a:defRPr>
            </a:pPr>
            <a:r>
              <a:t>mühendise aittir.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4630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500" b="1" i="0">
                <a:solidFill>
                  <a:srgbClr val="002855"/>
                </a:solidFill>
                <a:latin typeface="Calibri"/>
              </a:defRPr>
            </a:pPr>
            <a:r>
              <a:t>RAG Mimarisi:</a:t>
            </a:r>
          </a:p>
          <a:p>
            <a:pPr>
              <a:spcAft>
                <a:spcPts val="600"/>
              </a:spcAft>
              <a:defRPr sz="1300">
                <a:solidFill>
                  <a:srgbClr val="23232D"/>
                </a:solidFill>
                <a:latin typeface="Calibri"/>
              </a:defRPr>
            </a:pPr>
            <a:r>
              <a:t>Belge → chunk → embedding</a:t>
            </a:r>
          </a:p>
          <a:p>
            <a:pPr>
              <a:spcAft>
                <a:spcPts val="600"/>
              </a:spcAft>
              <a:defRPr sz="1300">
                <a:solidFill>
                  <a:srgbClr val="23232D"/>
                </a:solidFill>
                <a:latin typeface="Calibri"/>
              </a:defRPr>
            </a:pPr>
            <a:r>
              <a:t>→ FAISS indeksi</a:t>
            </a:r>
          </a:p>
          <a:p>
            <a:pPr>
              <a:spcAft>
                <a:spcPts val="600"/>
              </a:spcAft>
              <a:defRPr sz="1300">
                <a:solidFill>
                  <a:srgbClr val="23232D"/>
                </a:solidFill>
                <a:latin typeface="Calibri"/>
              </a:defRPr>
            </a:pPr>
            <a:r>
              <a:t>→ Sorgu ile en yakın k=5 parça</a:t>
            </a:r>
          </a:p>
          <a:p>
            <a:pPr>
              <a:spcAft>
                <a:spcPts val="600"/>
              </a:spcAft>
              <a:defRPr sz="1300">
                <a:solidFill>
                  <a:srgbClr val="23232D"/>
                </a:solidFill>
                <a:latin typeface="Calibri"/>
              </a:defRPr>
            </a:pPr>
            <a:r>
              <a:t>→ LLM'e bağlam olarak verilir</a:t>
            </a:r>
          </a:p>
          <a:p>
            <a:pPr>
              <a:spcAft>
                <a:spcPts val="600"/>
              </a:spcAft>
              <a:defRPr sz="800"/>
            </a:pPr>
          </a:p>
          <a:p>
            <a:pPr>
              <a:spcBef>
                <a:spcPts val="0"/>
              </a:spcBef>
              <a:spcAft>
                <a:spcPts val="600"/>
              </a:spcAft>
              <a:defRPr sz="1500" b="1" i="0">
                <a:solidFill>
                  <a:srgbClr val="002855"/>
                </a:solidFill>
                <a:latin typeface="Calibri"/>
              </a:defRPr>
            </a:pPr>
            <a:r>
              <a:t>Sonuç:</a:t>
            </a:r>
          </a:p>
          <a:p>
            <a:pPr>
              <a:spcAft>
                <a:spcPts val="600"/>
              </a:spcAft>
              <a:defRPr sz="1300">
                <a:solidFill>
                  <a:srgbClr val="23232D"/>
                </a:solidFill>
                <a:latin typeface="Calibri"/>
              </a:defRPr>
            </a:pPr>
            <a:r>
              <a:t>Kaynağı olmayan bilgi üretilemez</a:t>
            </a:r>
          </a:p>
          <a:p>
            <a:pPr>
              <a:spcAft>
                <a:spcPts val="600"/>
              </a:spcAft>
              <a:defRPr sz="1300">
                <a:solidFill>
                  <a:srgbClr val="23232D"/>
                </a:solidFill>
                <a:latin typeface="Calibri"/>
              </a:defRPr>
            </a:pPr>
            <a:r>
              <a:t>Her iddia belgeye bağlı</a:t>
            </a:r>
          </a:p>
          <a:p>
            <a:pPr>
              <a:spcAft>
                <a:spcPts val="600"/>
              </a:spcAft>
              <a:defRPr sz="1300">
                <a:solidFill>
                  <a:srgbClr val="23232D"/>
                </a:solidFill>
                <a:latin typeface="Calibri"/>
              </a:defRPr>
            </a:pPr>
            <a:r>
              <a:t>Kapsam dışı sorular reddedilir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1">
                <a:solidFill>
                  <a:srgbClr val="5A5F69"/>
                </a:solidFill>
                <a:latin typeface="Calibri"/>
              </a:defRPr>
            </a:pPr>
            <a:r>
              <a:t>31 TBDY-2018 maddesi + 15 proje artifaktı = 46 doğrulanmış bilgi kaynağı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9144000" cy="54864"/>
          </a:xfrm>
          <a:prstGeom prst="rect">
            <a:avLst/>
          </a:prstGeom>
          <a:solidFill>
            <a:srgbClr val="C3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 Light"/>
              </a:defRPr>
            </a:pPr>
            <a:r>
              <a:t>Canlı Demo: Replay Buffer ve İzleme Arayüzü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B4C3D7"/>
                </a:solidFill>
                <a:latin typeface="Calibri"/>
              </a:defRPr>
            </a:pPr>
            <a:r>
              <a:t>Güvenli simülasyon — gerçek KOERI verileri, kontrollü oynatım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002855"/>
                </a:solidFill>
                <a:latin typeface="Calibri"/>
              </a:defRPr>
            </a:pPr>
            <a:r>
              <a:t>Akış Mimarisi: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Replay Buffer: Arşivlenmiş KOERI verileri → kayan pencere (60s)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Ring Buffer: Son N pencereyi bellekte tutar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Her pencere: GPD+SVM tetikleme → PhaseNet (eğer olay) → RAG raporu</a:t>
            </a:r>
          </a:p>
          <a:p>
            <a:pPr>
              <a:spcAft>
                <a:spcPts val="600"/>
              </a:spcAft>
              <a:defRPr sz="800"/>
            </a:pPr>
          </a:p>
          <a:p>
            <a:pPr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002855"/>
                </a:solidFill>
                <a:latin typeface="Calibri"/>
              </a:defRPr>
            </a:pPr>
            <a:r>
              <a:t>Demo UI (Streamlit — 3 sekme):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Sekme 1: İnteraktif olay haritası (Marmara bölgesi)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Sekme 2: Dalga formu görüntüleyici + P/S pick çizgileri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Sekme 3: LLM soru-cevap (yalnızca proje artifaktları üzerinden)</a:t>
            </a:r>
          </a:p>
          <a:p>
            <a:pPr>
              <a:spcAft>
                <a:spcPts val="600"/>
              </a:spcAft>
              <a:defRPr sz="800"/>
            </a:pPr>
          </a:p>
          <a:p>
            <a:pPr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002855"/>
                </a:solidFill>
                <a:latin typeface="Calibri"/>
              </a:defRPr>
            </a:pPr>
            <a:r>
              <a:t>Neden Replay Buffer (canlı veri değil)?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• FDSN web servisi ~30-60s gecikme → gerçek zamanlı değil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• Demo güvenilirliği: internet kesintisinden bağımsız</a:t>
            </a:r>
          </a:p>
          <a:p>
            <a:pPr>
              <a:spcAft>
                <a:spcPts val="600"/>
              </a:spcAft>
              <a:defRPr sz="1400">
                <a:solidFill>
                  <a:srgbClr val="23232D"/>
                </a:solidFill>
                <a:latin typeface="Calibri"/>
              </a:defRPr>
            </a:pPr>
            <a:r>
              <a:t>• Bilimsel dürüstlük: "gerçek zamanlı" iddiası yapmıyoruz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1">
                <a:solidFill>
                  <a:srgbClr val="5A5F69"/>
                </a:solidFill>
                <a:latin typeface="Calibri"/>
              </a:defRPr>
            </a:pPr>
            <a:r>
              <a:t>Gelecek: SeedLink protokolü ile gerçek zamanlı veri akışı (sub-second gecikme)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 Light"/>
              </a:defRPr>
            </a:pPr>
            <a:r>
              <a:t>Gelecek Yol Haritası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C39B2D"/>
                </a:solidFill>
                <a:latin typeface="Calibri"/>
              </a:defRPr>
            </a:pPr>
            <a:r>
              <a:t>"Yangın alarmı inşa ettik. Sırada: itfaiye entegrasyonu."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2743200" cy="4114800"/>
          </a:xfrm>
          <a:prstGeom prst="roundRect">
            <a:avLst/>
          </a:prstGeom>
          <a:solidFill>
            <a:srgbClr val="0A2346"/>
          </a:solidFill>
          <a:ln w="19050">
            <a:solidFill>
              <a:srgbClr val="32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3278C8"/>
                </a:solidFill>
                <a:latin typeface="Calibri"/>
              </a:defRPr>
            </a:pPr>
            <a:r>
              <a:t>0.1s MAE HEDEFİ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PhaseNet ince-ayar:</a:t>
            </a:r>
          </a:p>
          <a:p>
            <a:pPr>
              <a:defRPr sz="1100" b="0">
                <a:solidFill>
                  <a:srgbClr val="C8CDD7"/>
                </a:solidFill>
                <a:latin typeface="Calibri"/>
              </a:defRPr>
            </a:pPr>
            <a:r>
              <a:t>• 5000+ olay (ISC Bulletin)</a:t>
            </a:r>
          </a:p>
          <a:p>
            <a:pPr>
              <a:defRPr sz="1100" b="0">
                <a:solidFill>
                  <a:srgbClr val="C8CDD7"/>
                </a:solidFill>
                <a:latin typeface="Calibri"/>
              </a:defRPr>
            </a:pPr>
            <a:r>
              <a:t>• Analist onaylı P/S picks</a:t>
            </a:r>
          </a:p>
          <a:p>
            <a:pPr>
              <a:defRPr sz="1100" b="0">
                <a:solidFill>
                  <a:srgbClr val="C8CDD7"/>
                </a:solidFill>
                <a:latin typeface="Calibri"/>
              </a:defRPr>
            </a:pPr>
            <a:r>
              <a:t>• 20+ istasyon</a:t>
            </a:r>
          </a:p>
          <a:p>
            <a:pPr>
              <a:defRPr sz="1100" b="0">
                <a:solidFill>
                  <a:srgbClr val="C8CDD7"/>
                </a:solidFill>
                <a:latin typeface="Calibri"/>
              </a:defRPr>
            </a:pPr>
            <a:r>
              <a:t>• Domain adaptation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100" b="0">
                <a:solidFill>
                  <a:srgbClr val="C39B2D"/>
                </a:solidFill>
                <a:latin typeface="Calibri"/>
              </a:defRPr>
            </a:pPr>
            <a:r>
              <a:t>Beklenen: 0.1-0.3s MAE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45920"/>
            <a:ext cx="2743200" cy="4114800"/>
          </a:xfrm>
          <a:prstGeom prst="roundRect">
            <a:avLst/>
          </a:prstGeom>
          <a:solidFill>
            <a:srgbClr val="0A2346"/>
          </a:solidFill>
          <a:ln w="19050">
            <a:solidFill>
              <a:srgbClr val="C3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C39B2D"/>
                </a:solidFill>
                <a:latin typeface="Calibri"/>
              </a:defRPr>
            </a:pPr>
            <a:r>
              <a:t>EEW SİSTEMİ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SeedLink entegrasyonu:</a:t>
            </a:r>
          </a:p>
          <a:p>
            <a:pPr>
              <a:defRPr sz="1100" b="0">
                <a:solidFill>
                  <a:srgbClr val="C8CDD7"/>
                </a:solidFill>
                <a:latin typeface="Calibri"/>
              </a:defRPr>
            </a:pPr>
            <a:r>
              <a:t>• Gerçek zamanlı telemetri</a:t>
            </a:r>
          </a:p>
          <a:p>
            <a:pPr>
              <a:defRPr sz="1100" b="0">
                <a:solidFill>
                  <a:srgbClr val="C8CDD7"/>
                </a:solidFill>
                <a:latin typeface="Calibri"/>
              </a:defRPr>
            </a:pPr>
            <a:r>
              <a:t>• P-dalga → M tahmini (3s)</a:t>
            </a:r>
          </a:p>
          <a:p>
            <a:pPr>
              <a:defRPr sz="1100" b="0">
                <a:solidFill>
                  <a:srgbClr val="C8CDD7"/>
                </a:solidFill>
                <a:latin typeface="Calibri"/>
              </a:defRPr>
            </a:pPr>
            <a:r>
              <a:t>• GMPE → PGA tahmini</a:t>
            </a:r>
          </a:p>
          <a:p>
            <a:pPr>
              <a:defRPr sz="1100" b="0">
                <a:solidFill>
                  <a:srgbClr val="C8CDD7"/>
                </a:solidFill>
                <a:latin typeface="Calibri"/>
              </a:defRPr>
            </a:pPr>
            <a:r>
              <a:t>• S-dalga varış hesabı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100" b="0">
                <a:solidFill>
                  <a:srgbClr val="C39B2D"/>
                </a:solidFill>
                <a:latin typeface="Calibri"/>
              </a:defRPr>
            </a:pPr>
            <a:r>
              <a:t>Hedef: 5-30s uyarı süresi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743200" cy="4114800"/>
          </a:xfrm>
          <a:prstGeom prst="roundRect">
            <a:avLst/>
          </a:prstGeom>
          <a:solidFill>
            <a:srgbClr val="0A2346"/>
          </a:solidFill>
          <a:ln w="19050">
            <a:solidFill>
              <a:srgbClr val="28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288C50"/>
                </a:solidFill>
                <a:latin typeface="Calibri"/>
              </a:defRPr>
            </a:pPr>
            <a:r>
              <a:t>SHM ENTEGRASYONU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IoT sensör verileri:</a:t>
            </a:r>
          </a:p>
          <a:p>
            <a:pPr>
              <a:defRPr sz="1100" b="0">
                <a:solidFill>
                  <a:srgbClr val="C8CDD7"/>
                </a:solidFill>
                <a:latin typeface="Calibri"/>
              </a:defRPr>
            </a:pPr>
            <a:r>
              <a:t>• Bina ivmeölçerleri (MEMS)</a:t>
            </a:r>
          </a:p>
          <a:p>
            <a:pPr>
              <a:defRPr sz="1100" b="0">
                <a:solidFill>
                  <a:srgbClr val="C8CDD7"/>
                </a:solidFill>
                <a:latin typeface="Calibri"/>
              </a:defRPr>
            </a:pPr>
            <a:r>
              <a:t>• Katlar-arası ötelenme</a:t>
            </a:r>
          </a:p>
          <a:p>
            <a:pPr>
              <a:defRPr sz="1100" b="0">
                <a:solidFill>
                  <a:srgbClr val="C8CDD7"/>
                </a:solidFill>
                <a:latin typeface="Calibri"/>
              </a:defRPr>
            </a:pPr>
            <a:r>
              <a:t>• Doğal frekans kayması</a:t>
            </a:r>
          </a:p>
          <a:p>
            <a:pPr>
              <a:defRPr sz="1100" b="0">
                <a:solidFill>
                  <a:srgbClr val="C8CDD7"/>
                </a:solidFill>
                <a:latin typeface="Calibri"/>
              </a:defRPr>
            </a:pPr>
            <a:r>
              <a:t>• Hasar göstergeleri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100" b="0">
                <a:solidFill>
                  <a:srgbClr val="C39B2D"/>
                </a:solidFill>
                <a:latin typeface="Calibri"/>
              </a:defRPr>
            </a:pPr>
            <a:r>
              <a:t>TBDY-2018 Bölüm 15 ile</a:t>
            </a:r>
          </a:p>
          <a:p>
            <a:pPr>
              <a:defRPr sz="1100" b="0">
                <a:solidFill>
                  <a:srgbClr val="C39B2D"/>
                </a:solidFill>
                <a:latin typeface="Calibri"/>
              </a:defRPr>
            </a:pPr>
            <a:r>
              <a:t>otomatik eşleştirme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A0AFC8"/>
                </a:solidFill>
                <a:latin typeface="Calibri"/>
              </a:defRPr>
            </a:pPr>
            <a:r>
              <a:t>Şu an: Tespit zekası (yangın alarmı) inşa edildi ve Türk istasyonlarında genelleştiği kanıtlandı.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C39B2D"/>
                </a:solidFill>
                <a:latin typeface="Calibri"/>
              </a:defRPr>
            </a:pPr>
            <a:r>
              <a:t>Sonraki adım: Bu çekirdeği gerçek zamanlı erken uyarı altyapısına entegre etmek.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